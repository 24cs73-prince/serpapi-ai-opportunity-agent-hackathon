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658368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768096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IQ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828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Aptos"/>
              </a:rPr>
              <a:t>SERPAPI INDIA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40280"/>
            <a:ext cx="8686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0F172A"/>
                </a:solidFill>
                <a:latin typeface="Aptos"/>
              </a:rPr>
              <a:t>Discover. Verify.</a:t>
            </a:r>
            <a:br/>
            <a:r>
              <a:t>Analyze. Act.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315968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4748B"/>
                </a:solidFill>
                <a:latin typeface="Aptos"/>
              </a:rPr>
              <a:t>OpportunityIQ - AI Opportunity Intelligence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5074920"/>
            <a:ext cx="1444752" cy="384048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5193792"/>
            <a:ext cx="133502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2563EB"/>
                </a:solidFill>
                <a:latin typeface="Aptos"/>
              </a:rPr>
              <a:t>Live Search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58568" y="5074920"/>
            <a:ext cx="1444752" cy="384048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13432" y="5193792"/>
            <a:ext cx="133502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2563EB"/>
                </a:solidFill>
                <a:latin typeface="Aptos"/>
              </a:rPr>
              <a:t>RAG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58768" y="5074920"/>
            <a:ext cx="1444752" cy="384048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13632" y="5193792"/>
            <a:ext cx="133502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2563EB"/>
                </a:solidFill>
                <a:latin typeface="Aptos"/>
              </a:rPr>
              <a:t>AI Agents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58968" y="5074920"/>
            <a:ext cx="1444752" cy="384048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13832" y="5193792"/>
            <a:ext cx="133502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2563EB"/>
                </a:solidFill>
                <a:latin typeface="Aptos"/>
              </a:rPr>
              <a:t>Semantic Matching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7395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01 ·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Aptos"/>
              </a:rPr>
              <a:t>Opportunity discovery is still a manual research job.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73952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OpportunityIQ · SerpApi India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02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Aptos"/>
              </a:rPr>
              <a:t>Search gives users volume. It does not give them a decision-ready shortlist.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31720"/>
            <a:ext cx="507492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4963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926079"/>
            <a:ext cx="4709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Too many 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291839"/>
            <a:ext cx="47091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Search engines return volume, not a personalized shortlist.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9048" y="2331720"/>
            <a:ext cx="507492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1928" y="24963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1928" y="2926079"/>
            <a:ext cx="4709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Manual comparison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1928" y="3291839"/>
            <a:ext cx="47091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Requirements, location, source and deadlines are scattered.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931920"/>
            <a:ext cx="507492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4096511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4526280"/>
            <a:ext cx="4709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Unknown fit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4892040"/>
            <a:ext cx="47091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Users struggle to translate a resume into role-specific relevance.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99048" y="3931920"/>
            <a:ext cx="507492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81928" y="4096511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1928" y="4526280"/>
            <a:ext cx="4709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Hidden skill gaps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1928" y="4892040"/>
            <a:ext cx="47091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A mismatch rarely explains what to learn next.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02 · 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Aptos"/>
              </a:rPr>
              <a:t>An intelligence layer between the user and the opportunity.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73952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OpportunityIQ · SerpApi India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03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08760"/>
            <a:ext cx="6766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Aptos"/>
              </a:rPr>
              <a:t>OpportunityIQ turns live opportunity search into structured, personalized intelligence.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1481328"/>
            <a:ext cx="3611880" cy="4251960"/>
          </a:xfrm>
          <a:prstGeom prst="roundRect">
            <a:avLst>
              <a:gd name="adj" fmla="val 12000"/>
            </a:avLst>
          </a:prstGeom>
          <a:solidFill>
            <a:srgbClr val="0B1220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18288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0A5FA"/>
                </a:solidFill>
                <a:latin typeface="Aptos"/>
              </a:rPr>
              <a:t>CORE 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2402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ptos"/>
              </a:rPr>
              <a:t>82%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25786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example match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33375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Python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33375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ptos"/>
              </a:rPr>
              <a:t>✓ matched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38404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Machine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38404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ptos"/>
              </a:rPr>
              <a:t>✓ matched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43434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FastAPI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43434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97706"/>
                </a:solidFill>
                <a:latin typeface="Aptos"/>
              </a:rPr>
              <a:t>△ skill gap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8463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Docker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48463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97706"/>
                </a:solidFill>
                <a:latin typeface="Aptos"/>
              </a:rPr>
              <a:t>△ skill gap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526280"/>
            <a:ext cx="11430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19" y="4727448"/>
            <a:ext cx="9966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F172A"/>
                </a:solidFill>
                <a:latin typeface="Aptos"/>
              </a:rPr>
              <a:t>User profile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70916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11680" y="4526280"/>
            <a:ext cx="11430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84832" y="4727448"/>
            <a:ext cx="9966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F172A"/>
                </a:solidFill>
                <a:latin typeface="Aptos"/>
              </a:rPr>
              <a:t>AI 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82112" y="470916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64991" y="4526280"/>
            <a:ext cx="11430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38144" y="4727448"/>
            <a:ext cx="9966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F172A"/>
                </a:solidFill>
                <a:latin typeface="Aptos"/>
              </a:rPr>
              <a:t>Live search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35424" y="470916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18303" y="4526280"/>
            <a:ext cx="11430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91455" y="4727448"/>
            <a:ext cx="9966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F172A"/>
                </a:solidFill>
                <a:latin typeface="Aptos"/>
              </a:rPr>
              <a:t>Match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88736" y="470916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71616" y="4526280"/>
            <a:ext cx="11430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44768" y="4727448"/>
            <a:ext cx="9966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F172A"/>
                </a:solidFill>
                <a:latin typeface="Aptos"/>
              </a:rPr>
              <a:t>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03 · 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Aptos"/>
              </a:rPr>
              <a:t>From intent to an actionable opportunity shortlist.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73952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OpportunityIQ · SerpApi India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04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00200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09928"/>
            <a:ext cx="43891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563EB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58191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User intent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911095"/>
            <a:ext cx="4389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Role, location, skills and preferences become a structured request.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1600200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44768" y="1709928"/>
            <a:ext cx="43891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563EB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59" y="158191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Agent planning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59" y="1911095"/>
            <a:ext cx="4389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LangGraph coordinates retrieval and downstream analysis.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953512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63240"/>
            <a:ext cx="43891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563EB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3522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SerpApi retrieval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264408"/>
            <a:ext cx="4389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Google Jobs, Search and News provide fresh external signals.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2953512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3063240"/>
            <a:ext cx="43891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563EB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59" y="293522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Extraction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59" y="3264408"/>
            <a:ext cx="4389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Raw results become normalized opportunity records.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306824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4416552"/>
            <a:ext cx="43891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563EB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28853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Profile intelligence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617720"/>
            <a:ext cx="4389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Resume content is embedded and retrieved semantically.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4306824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44768" y="4416552"/>
            <a:ext cx="43891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563EB"/>
                </a:solidFill>
                <a:latin typeface="Apto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59" y="428853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Decision support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59" y="4617720"/>
            <a:ext cx="4389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Match score, matched skills and gaps are surfaced.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04 · AI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Aptos"/>
              </a:rPr>
              <a:t>LangGraph turns separate capabilities into one workflow.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73952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OpportunityIQ · SerpApi India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05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08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Aptos"/>
              </a:rPr>
              <a:t>The agent coordinates tools and stages rather than acting as a simple chatbot.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14173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999232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Aptos"/>
              </a:rPr>
              <a:t>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99923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4748B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2743200"/>
            <a:ext cx="14173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2999232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Aptos"/>
              </a:rPr>
              <a:t>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99923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4748B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2743200"/>
            <a:ext cx="14173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2999232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Aptos"/>
              </a:rPr>
              <a:t>Extract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99923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4748B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78040" y="2743200"/>
            <a:ext cx="14173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9480" y="2999232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Aptos"/>
              </a:rPr>
              <a:t>Retrieve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299923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4748B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0" y="2743200"/>
            <a:ext cx="14173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2999232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Aptos"/>
              </a:rPr>
              <a:t>Analyze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977639"/>
            <a:ext cx="9966960" cy="1051560"/>
          </a:xfrm>
          <a:prstGeom prst="roundRect">
            <a:avLst>
              <a:gd name="adj" fmla="val 12000"/>
            </a:avLst>
          </a:prstGeom>
          <a:solidFill>
            <a:srgbClr val="0B1220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315968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Query planning  ·  Search  ·  Extraction  ·  RAG retrieval  ·  Matching  ·  Skill-gap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05 · SERPAPI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Aptos"/>
              </a:rPr>
              <a:t>Fresh opportunity data is the product's external signal.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73952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OpportunityIQ · SerpApi India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06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08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Aptos"/>
              </a:rPr>
              <a:t>SerpApi is core because OpportunityIQ needs current searchable opportunity information, not a static dataset.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423160"/>
            <a:ext cx="3337560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9536" y="2633472"/>
            <a:ext cx="1234440" cy="347472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743200"/>
            <a:ext cx="10972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2563EB"/>
                </a:solidFill>
                <a:latin typeface="Aptos"/>
              </a:rPr>
              <a:t>Google Jobs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2461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Opportunity retrieval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6576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Live job and internship listings.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2423160"/>
            <a:ext cx="3337560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62855" y="2633472"/>
            <a:ext cx="1234440" cy="347472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7" y="2743200"/>
            <a:ext cx="10972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2563EB"/>
                </a:solidFill>
                <a:latin typeface="Aptos"/>
              </a:rPr>
              <a:t>Google 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5" y="32461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Context discovery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5" y="36576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Company pages and broader opportunity context.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5008" y="2423160"/>
            <a:ext cx="3337560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66176" y="2633472"/>
            <a:ext cx="1234440" cy="347472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8" y="2743200"/>
            <a:ext cx="10972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2563EB"/>
                </a:solidFill>
                <a:latin typeface="Aptos"/>
              </a:rPr>
              <a:t>Google News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6" y="32461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Fresh signals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6" y="36576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Current company and market context.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892040"/>
            <a:ext cx="10927080" cy="713232"/>
          </a:xfrm>
          <a:prstGeom prst="roundRect">
            <a:avLst>
              <a:gd name="adj" fmla="val 12000"/>
            </a:avLst>
          </a:prstGeom>
          <a:solidFill>
            <a:srgbClr val="0B1220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111496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Search is the raw material. OpportunityIQ adds extraction, verification, personalization and analysis.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06 · RESUME + RAG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Aptos"/>
              </a:rPr>
              <a:t>The resume becomes a retrieval-ready profile.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73952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OpportunityIQ · SerpApi India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07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08760"/>
            <a:ext cx="6675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Aptos"/>
              </a:rPr>
              <a:t>Instead of relying only on exact keyword overlap, relevant resume evidence can be retrieved by meaning.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514600"/>
            <a:ext cx="841248" cy="384048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633472"/>
            <a:ext cx="841248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2563EB"/>
                </a:solidFill>
                <a:latin typeface="Aptos"/>
              </a:rPr>
              <a:t>PDF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64208" y="2514600"/>
            <a:ext cx="841248" cy="384048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4208" y="2633472"/>
            <a:ext cx="841248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2563EB"/>
                </a:solidFill>
                <a:latin typeface="Aptos"/>
              </a:rPr>
              <a:t>DOCX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70048" y="2514600"/>
            <a:ext cx="841248" cy="384048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70048" y="2633472"/>
            <a:ext cx="841248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2563EB"/>
                </a:solidFill>
                <a:latin typeface="Aptos"/>
              </a:rPr>
              <a:t>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24612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Aptos"/>
              </a:rPr>
              <a:t>Extract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246120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PyPDF2 / python-docx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77647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Aptos"/>
              </a:rPr>
              <a:t>Embed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776472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SentenceTransformers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306824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Aptos"/>
              </a:rPr>
              <a:t>Retrieve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4306824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FAISS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837175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Aptos"/>
              </a:rPr>
              <a:t>Compare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4837175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Semantic matching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95160" y="1965960"/>
            <a:ext cx="4526280" cy="3429000"/>
          </a:xfrm>
          <a:prstGeom prst="roundRect">
            <a:avLst>
              <a:gd name="adj" fmla="val 12000"/>
            </a:avLst>
          </a:prstGeom>
          <a:solidFill>
            <a:srgbClr val="0B1220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0" y="230428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0A5FA"/>
                </a:solidFill>
                <a:latin typeface="Aptos"/>
              </a:rPr>
              <a:t>RAG PROFILE CONTEXT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27432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Aptos"/>
              </a:rPr>
              <a:t>Opportunity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30175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“Build ML APIs”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37033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Aptos"/>
              </a:rPr>
              <a:t>Retrieved 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404164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Python · ML · model deployment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07 · PERSONALIZED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Aptos"/>
              </a:rPr>
              <a:t>One opportunity. One explainable fit view.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73952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OpportunityIQ · SerpApi India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08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54480"/>
            <a:ext cx="5074920" cy="4343400"/>
          </a:xfrm>
          <a:prstGeom prst="roundRect">
            <a:avLst>
              <a:gd name="adj" fmla="val 12000"/>
            </a:avLst>
          </a:prstGeom>
          <a:solidFill>
            <a:srgbClr val="0B1220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0A5FA"/>
                </a:solidFill>
                <a:latin typeface="Aptos"/>
              </a:rPr>
              <a:t>AI/ML INTERN · GUJARAT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"/>
              </a:rPr>
              <a:t>82%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7432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Aptos"/>
              </a:rPr>
              <a:t>match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42900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Skills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3447288"/>
            <a:ext cx="2560320" cy="109728"/>
          </a:xfrm>
          <a:prstGeom prst="roundRect">
            <a:avLst>
              <a:gd name="adj" fmla="val 12000"/>
            </a:avLst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920240" y="3447288"/>
            <a:ext cx="2253081" cy="109728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342900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88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2336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Experience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20240" y="4041648"/>
            <a:ext cx="2560320" cy="109728"/>
          </a:xfrm>
          <a:prstGeom prst="roundRect">
            <a:avLst>
              <a:gd name="adj" fmla="val 12000"/>
            </a:avLst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920240" y="4041648"/>
            <a:ext cx="1945843" cy="109728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60" y="402336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76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61772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Context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20240" y="4636007"/>
            <a:ext cx="2560320" cy="109728"/>
          </a:xfrm>
          <a:prstGeom prst="roundRect">
            <a:avLst>
              <a:gd name="adj" fmla="val 12000"/>
            </a:avLst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920240" y="4636007"/>
            <a:ext cx="2073859" cy="109728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9160" y="46177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81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69164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Python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69880" y="169164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6A34A"/>
                </a:solidFill>
                <a:latin typeface="Aptos"/>
              </a:rPr>
              <a:t>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82512" y="2039112"/>
            <a:ext cx="4572000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2350008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Machine Learning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69880" y="235000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6A34A"/>
                </a:solidFill>
                <a:latin typeface="Aptos"/>
              </a:rPr>
              <a:t>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82512" y="2697480"/>
            <a:ext cx="4572000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008376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Streamlit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69880" y="3008376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6A34A"/>
                </a:solidFill>
                <a:latin typeface="Aptos"/>
              </a:rPr>
              <a:t>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82512" y="3355848"/>
            <a:ext cx="4572000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666744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FastAPI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69880" y="3666744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97706"/>
                </a:solidFill>
                <a:latin typeface="Aptos"/>
              </a:rPr>
              <a:t>△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82512" y="4014215"/>
            <a:ext cx="4572000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4325112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Docker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69880" y="432511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97706"/>
                </a:solidFill>
                <a:latin typeface="Aptos"/>
              </a:rPr>
              <a:t>△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82512" y="4672584"/>
            <a:ext cx="4572000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4983479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Vector DB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69880" y="4983479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97706"/>
                </a:solidFill>
                <a:latin typeface="Aptos"/>
              </a:rPr>
              <a:t>△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82512" y="5330951"/>
            <a:ext cx="4572000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08 · PRODUCT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Aptos"/>
              </a:rPr>
              <a:t>A dashboard designed for decisions, not data dumping.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73952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OpportunityIQ · SerpApi India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09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54480"/>
            <a:ext cx="10927080" cy="4526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54480"/>
            <a:ext cx="10927080" cy="457200"/>
          </a:xfrm>
          <a:prstGeom prst="rect">
            <a:avLst/>
          </a:prstGeom>
          <a:solidFill>
            <a:srgbClr val="EEF2F7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728216"/>
            <a:ext cx="73152" cy="73152"/>
          </a:xfrm>
          <a:prstGeom prst="roundRect">
            <a:avLst>
              <a:gd name="adj" fmla="val 12000"/>
            </a:avLst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51560" y="1728216"/>
            <a:ext cx="73152" cy="73152"/>
          </a:xfrm>
          <a:prstGeom prst="roundRect">
            <a:avLst>
              <a:gd name="adj" fmla="val 12000"/>
            </a:avLst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34440" y="1728216"/>
            <a:ext cx="73152" cy="73152"/>
          </a:xfrm>
          <a:prstGeom prst="roundRect">
            <a:avLst>
              <a:gd name="adj" fmla="val 12000"/>
            </a:avLst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331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Opportunity Intelligence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65176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AI/ML · Gujarat · Internship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92640" y="2286000"/>
            <a:ext cx="1234440" cy="347472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65792" y="2395728"/>
            <a:ext cx="107899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2563EB"/>
                </a:solidFill>
                <a:latin typeface="Aptos"/>
              </a:rPr>
              <a:t>12 MATCHED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3063240"/>
            <a:ext cx="10241280" cy="65836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320040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Aptos"/>
              </a:rPr>
              <a:t>AI/ML Intern · Product Company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3200400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Aptos"/>
              </a:rPr>
              <a:t>91%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447288"/>
            <a:ext cx="71323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Python · ML · APIs · Gujarat · Posted recently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3931920"/>
            <a:ext cx="10241280" cy="65836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406908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Aptos"/>
              </a:rPr>
              <a:t>GenAI Intern · Research Team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4069080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Aptos"/>
              </a:rPr>
              <a:t>84%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315968"/>
            <a:ext cx="71323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Python · RAG · LLM · Remote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" y="4800600"/>
            <a:ext cx="10241280" cy="65836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493776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Aptos"/>
              </a:rPr>
              <a:t>ML Engineer Intern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4937760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Aptos"/>
              </a:rPr>
              <a:t>76%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5184648"/>
            <a:ext cx="71323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Python · SQL · Docker · Ahmedabad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09 · IMPACT +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Aptos"/>
              </a:rPr>
              <a:t>Turn opportunity search into an intelligent action loop.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73952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OpportunityIQ · SerpApi India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10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0876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Aptos"/>
              </a:rPr>
              <a:t>OpportunityIQ reduces repetitive research, explains fit, and makes skill gaps visible.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31720"/>
            <a:ext cx="516636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26079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91839"/>
            <a:ext cx="4800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Live search · structured extraction · resume intelligence · semantic matching · skill-gap analysis.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331720"/>
            <a:ext cx="5504688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926079"/>
            <a:ext cx="51389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Next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3291839"/>
            <a:ext cx="513892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Saved searches · opportunity monitoring · notifications · more sources · richer agent workflows.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343400"/>
            <a:ext cx="10927080" cy="960120"/>
          </a:xfrm>
          <a:prstGeom prst="roundRect">
            <a:avLst>
              <a:gd name="adj" fmla="val 12000"/>
            </a:avLst>
          </a:prstGeom>
          <a:solidFill>
            <a:srgbClr val="0B1220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663440"/>
            <a:ext cx="10149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DISCOVER     →     VERIFY     →     ANALYZE     →     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989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OpportunityIQ · AI Opportunity Intelligence 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